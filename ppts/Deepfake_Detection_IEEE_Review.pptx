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Deepfake Techniques: Architecture, Detection, and Datasets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Review of State-of-the-Art Approaches</a:t>
            </a:r>
          </a:p>
          <a:p>
            <a:r>
              <a:t>Based on IEEE Access (2024)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/>
            </a:pPr>
            <a:r>
              <a:t>Context &amp; Objectives</a:t>
            </a:r>
          </a:p>
          <a:p>
            <a:pPr lvl="1">
              <a:defRPr sz="1800"/>
            </a:pPr>
            <a:r>
              <a:t>Evolution of Deepfakes: From basic GANs to highly realistic Diffusion models.</a:t>
            </a:r>
          </a:p>
          <a:p>
            <a:pPr lvl="1">
              <a:defRPr sz="1800"/>
            </a:pPr>
            <a:r>
              <a:t>The Threat: Misinformation, identity theft, and the urgent need for robust detection mechanisms.</a:t>
            </a:r>
          </a:p>
          <a:p>
            <a:pPr lvl="1">
              <a:defRPr sz="1800"/>
            </a:pPr>
            <a:r>
              <a:t>Paper Scope: A recent meta-literature review focusing on three critical domains:</a:t>
            </a:r>
          </a:p>
          <a:p>
            <a:pPr lvl="2">
              <a:defRPr sz="1600"/>
            </a:pPr>
            <a:r>
              <a:t>Architectures</a:t>
            </a:r>
          </a:p>
          <a:p>
            <a:pPr lvl="2">
              <a:defRPr sz="1600"/>
            </a:pPr>
            <a:r>
              <a:t>Detection Methods</a:t>
            </a:r>
          </a:p>
          <a:p>
            <a:pPr lvl="2">
              <a:defRPr sz="1600"/>
            </a:pPr>
            <a:r>
              <a:t>Datasets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Detection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CNNs (Convolutional Neural Networks)</a:t>
            </a:r>
          </a:p>
          <a:p>
            <a:pPr lvl="1">
              <a:defRPr sz="1800"/>
            </a:pPr>
            <a:r>
              <a:t>Remain the backbone for local feature extraction (e.g., VGG, ResNet, EfficientNet).</a:t>
            </a:r>
          </a:p>
          <a:p>
            <a:pPr>
              <a:defRPr sz="2200"/>
            </a:pPr>
            <a:r>
              <a:t>Capsule Networks (CapsNet)</a:t>
            </a:r>
          </a:p>
          <a:p>
            <a:pPr lvl="1">
              <a:defRPr sz="1800"/>
            </a:pPr>
            <a:r>
              <a:t>Preserve spatial hierarchy of facial features, harder to fool with structural manipulations.</a:t>
            </a:r>
          </a:p>
          <a:p>
            <a:pPr>
              <a:defRPr sz="2200"/>
            </a:pPr>
            <a:r>
              <a:t>Vision Transformers (ViT)</a:t>
            </a:r>
          </a:p>
          <a:p>
            <a:pPr lvl="1">
              <a:defRPr sz="1800"/>
            </a:pPr>
            <a:r>
              <a:t>Current gold standard for global features and long-range dependencies CNNs miss.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Frequency Domain Analysis</a:t>
            </a:r>
          </a:p>
          <a:p>
            <a:pPr lvl="1">
              <a:defRPr sz="1800"/>
            </a:pPr>
            <a:r>
              <a:t>Finds 'noise' signatures from GANs/Diffusion models in the frequency spectrum (using DFT).</a:t>
            </a:r>
          </a:p>
          <a:p>
            <a:pPr>
              <a:defRPr sz="2200"/>
            </a:pPr>
            <a:r>
              <a:t>Spatial-Temporal Consistency</a:t>
            </a:r>
          </a:p>
          <a:p>
            <a:pPr lvl="1">
              <a:defRPr sz="1800"/>
            </a:pPr>
            <a:r>
              <a:t>Essential for video: analyzes smoothness of frame transitions to detect 'jitter'.</a:t>
            </a:r>
          </a:p>
          <a:p>
            <a:pPr lvl="1">
              <a:defRPr sz="1800"/>
            </a:pPr>
            <a:r>
              <a:t>Finds biological inconsistencies like unnatural blinking.</a:t>
            </a:r>
          </a:p>
          <a:p>
            <a:pPr>
              <a:defRPr sz="2200"/>
            </a:pPr>
            <a:r>
              <a:t>Cross-Attention Mechanisms</a:t>
            </a:r>
          </a:p>
          <a:p>
            <a:pPr lvl="1">
              <a:defRPr sz="1800"/>
            </a:pPr>
            <a:r>
              <a:t>Hybrid models focus on specific facial areas prone to artifacts (e.g., mouth, eyes).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Crucial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Established Baselines</a:t>
            </a:r>
          </a:p>
          <a:p>
            <a:pPr lvl="1">
              <a:defRPr sz="1800"/>
            </a:pPr>
            <a:r>
              <a:t>FaceForensics++, DeeperForensics-1.0, and Celeb-DF.</a:t>
            </a:r>
          </a:p>
          <a:p>
            <a:pPr>
              <a:defRPr sz="2200"/>
            </a:pPr>
            <a:r>
              <a:t>Emerging Datasets</a:t>
            </a:r>
          </a:p>
          <a:p>
            <a:pPr lvl="1">
              <a:defRPr sz="1800"/>
            </a:pPr>
            <a:r>
              <a:t>New datasets like DiffusionDB-Face are critical to train against modern threats.</a:t>
            </a:r>
          </a:p>
          <a:p>
            <a:pPr lvl="1">
              <a:defRPr sz="1800"/>
            </a:pPr>
            <a:r>
              <a:t>Target fakes generated by modern Diffusion models (Midjourney, Stable Diffusion).</a:t>
            </a:r>
          </a:p>
          <a:p>
            <a:pPr>
              <a:defRPr sz="2200"/>
            </a:pPr>
            <a:r>
              <a:t>Ongoing Challenge</a:t>
            </a:r>
          </a:p>
          <a:p>
            <a:pPr lvl="1">
              <a:defRPr sz="1800"/>
            </a:pPr>
            <a:r>
              <a:t>Detectors trained on older GAN datasets fail to identify modern diffusion-based fakes.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Challenges &amp;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The 'Generalization' Gap</a:t>
            </a:r>
          </a:p>
          <a:p>
            <a:pPr lvl="1">
              <a:defRPr sz="1800"/>
            </a:pPr>
            <a:r>
              <a:t>Models perform well on training data but struggle in 'the wild' on unseen algorithms.</a:t>
            </a:r>
          </a:p>
          <a:p>
            <a:pPr>
              <a:defRPr sz="2200"/>
            </a:pPr>
            <a:r>
              <a:t>Explainability (XAI)</a:t>
            </a:r>
          </a:p>
          <a:p>
            <a:pPr lvl="1">
              <a:defRPr sz="1800"/>
            </a:pPr>
            <a:r>
              <a:t>Push for models to explain 'why' a fake is detected (e.g., irregular pixel intensities).</a:t>
            </a:r>
          </a:p>
          <a:p>
            <a:pPr>
              <a:defRPr sz="2200"/>
            </a:pPr>
            <a:r>
              <a:t>Ethics &amp; Privacy</a:t>
            </a:r>
          </a:p>
          <a:p>
            <a:pPr lvl="1">
              <a:defRPr sz="1800"/>
            </a:pPr>
            <a:r>
              <a:t>Address representation bias and ensure standardized ethical frameworks in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Evolving Threats Require Evolving Defenses</a:t>
            </a:r>
          </a:p>
          <a:p>
            <a:pPr lvl="1">
              <a:defRPr sz="1800"/>
            </a:pPr>
            <a:r>
              <a:t>As generation shifts from GANs to Diffusion, detection must adapt to new artifacts.</a:t>
            </a:r>
          </a:p>
          <a:p>
            <a:pPr>
              <a:defRPr sz="2200"/>
            </a:pPr>
            <a:r>
              <a:t>Promising Directions</a:t>
            </a:r>
          </a:p>
          <a:p>
            <a:pPr lvl="1">
              <a:defRPr sz="1800"/>
            </a:pPr>
            <a:r>
              <a:t>Vision Transformers (ViT) coupled with Frequency Domain analysis represent state-of-the-art.</a:t>
            </a:r>
          </a:p>
          <a:p>
            <a:pPr>
              <a:defRPr sz="2200"/>
            </a:pPr>
            <a:r>
              <a:t>Project Takeaway</a:t>
            </a:r>
          </a:p>
          <a:p>
            <a:pPr lvl="1">
              <a:defRPr sz="1800"/>
            </a:pPr>
            <a:r>
              <a:t>Prioritize generalization capability over raw accuracy on closed, older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